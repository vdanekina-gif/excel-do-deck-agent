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Cambria"/>
              </a:rPr>
              <a:t>Meridian Advisory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5A6472"/>
                </a:solidFill>
                <a:latin typeface="Calibri"/>
              </a:rPr>
              <a:t>Portfolio Review — August 2026  ·  4 enterprise accounts  ·  portfolio-wide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567863" cy="1554480"/>
          </a:xfrm>
          <a:prstGeom prst="roundRect">
            <a:avLst>
              <a:gd name="adj" fmla="val 6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64792"/>
            <a:ext cx="2238679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5A6472"/>
                </a:solidFill>
                <a:latin typeface="Calibri"/>
              </a:rPr>
              <a:t>TOTAL REVENUE (PROJECTED)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E2761"/>
                </a:solidFill>
                <a:latin typeface="Cambria"/>
              </a:rPr>
              <a:t>$11.12M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E7D32"/>
                </a:solidFill>
                <a:latin typeface="Calibri"/>
              </a:rPr>
              <a:t>vs $9.97M LY  ·  +11.6%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0823" y="1600200"/>
            <a:ext cx="2567863" cy="1554480"/>
          </a:xfrm>
          <a:prstGeom prst="roundRect">
            <a:avLst>
              <a:gd name="adj" fmla="val 6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55415" y="1764792"/>
            <a:ext cx="2238679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5A6472"/>
                </a:solidFill>
                <a:latin typeface="Calibri"/>
              </a:rPr>
              <a:t>BLENDED GROSS MARGIN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E2761"/>
                </a:solidFill>
                <a:latin typeface="Cambria"/>
              </a:rPr>
              <a:t>35.5%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2E7D32"/>
                </a:solidFill>
                <a:latin typeface="Calibri"/>
              </a:rPr>
              <a:t>vs 33.5% LY  ·  +2.0 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6" y="1600200"/>
            <a:ext cx="2567863" cy="1554480"/>
          </a:xfrm>
          <a:prstGeom prst="roundRect">
            <a:avLst>
              <a:gd name="adj" fmla="val 6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598" y="1764792"/>
            <a:ext cx="2238679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5A6472"/>
                </a:solidFill>
                <a:latin typeface="Calibri"/>
              </a:rPr>
              <a:t>TOTAL HEADCOUNT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E2761"/>
                </a:solidFill>
                <a:latin typeface="Cambria"/>
              </a:rPr>
              <a:t>123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A6472"/>
                </a:solidFill>
                <a:latin typeface="Calibri"/>
              </a:rPr>
              <a:t>11 non-billable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75189" y="1600200"/>
            <a:ext cx="2567863" cy="1554480"/>
          </a:xfrm>
          <a:prstGeom prst="roundRect">
            <a:avLst>
              <a:gd name="adj" fmla="val 6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9781" y="1764792"/>
            <a:ext cx="2238679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5A6472"/>
                </a:solidFill>
                <a:latin typeface="Calibri"/>
              </a:rPr>
              <a:t>AVG UTILIZATION (2 STAFF-AUG ACCTS)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E2761"/>
                </a:solidFill>
                <a:latin typeface="Cambria"/>
              </a:rPr>
              <a:t>83.5%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5A6472"/>
                </a:solidFill>
                <a:latin typeface="Calibri"/>
              </a:rPr>
              <a:t>per-head billing model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203600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602736"/>
            <a:ext cx="1779971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A6472"/>
                </a:solidFill>
                <a:latin typeface="Calibri"/>
              </a:rPr>
              <a:t>DELIVERY HEALTH (PROJ.-BASED)</a:t>
            </a: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B56A0B"/>
                </a:solidFill>
                <a:latin typeface="Cambria"/>
              </a:rPr>
              <a:t>1 on-track / 1 at-risk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13243" y="3474720"/>
            <a:ext cx="203600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1259" y="3602736"/>
            <a:ext cx="1779971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A6472"/>
                </a:solidFill>
                <a:latin typeface="Calibri"/>
              </a:rPr>
              <a:t>OPEN RISKS (PORTFOLIO)</a:t>
            </a: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B56A0B"/>
                </a:solidFill>
                <a:latin typeface="Cambria"/>
              </a:rP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7846" y="3474720"/>
            <a:ext cx="203600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05862" y="3602736"/>
            <a:ext cx="1779971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A6472"/>
                </a:solidFill>
                <a:latin typeface="Calibri"/>
              </a:rPr>
              <a:t>AVG NPS</a:t>
            </a: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1E2761"/>
                </a:solidFill>
                <a:latin typeface="Cambria"/>
              </a:rPr>
              <a:t>41.5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2449" y="3474720"/>
            <a:ext cx="203600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465" y="3602736"/>
            <a:ext cx="1779971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A6472"/>
                </a:solidFill>
                <a:latin typeface="Calibri"/>
              </a:rPr>
              <a:t>AVG ENPS</a:t>
            </a: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1E2761"/>
                </a:solidFill>
                <a:latin typeface="Cambria"/>
              </a:rPr>
              <a:t>38.2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7052" y="3474720"/>
            <a:ext cx="2036003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8E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5068" y="3602736"/>
            <a:ext cx="1779971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5A6472"/>
                </a:solidFill>
                <a:latin typeface="Calibri"/>
              </a:rPr>
              <a:t>AVG ATTRITION</a:t>
            </a:r>
          </a:p>
          <a:p>
            <a:pPr>
              <a:spcBef>
                <a:spcPts val="300"/>
              </a:spcBef>
            </a:pPr>
            <a:r>
              <a:rPr sz="1700" b="1" i="0">
                <a:solidFill>
                  <a:srgbClr val="1E2761"/>
                </a:solidFill>
                <a:latin typeface="Cambria"/>
              </a:rPr>
              <a:t>9.2%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>
                <a:solidFill>
                  <a:srgbClr val="5A6472"/>
                </a:solidFill>
                <a:latin typeface="Calibri"/>
              </a:rPr>
              <a:t>Flagged for attention this month:  </a:t>
            </a:r>
            <a:r>
              <a:rPr sz="1150" b="1" i="0">
                <a:solidFill>
                  <a:srgbClr val="B56A0B"/>
                </a:solidFill>
                <a:latin typeface="Calibri"/>
              </a:rPr>
              <a:t>Harborline Financial Services (high attrition)  ·  Harborline Financial Services (renewal due)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900" b="0" i="1">
                <a:solidFill>
                  <a:srgbClr val="8C8C8C"/>
                </a:solidFill>
                <a:latin typeface="Calibri"/>
              </a:rPr>
              <a:t>Meridian Advisory Group  ·  Portfolio Review — August 2026  ·  synthetic demo data</a:t>
            </a:r>
          </a:p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Cambria"/>
              </a:rPr>
              <a:t>Solvix Retail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A6472"/>
                </a:solidFill>
                <a:latin typeface="Calibri"/>
              </a:rPr>
              <a:t>Staff augmentation  ·  client since Mar 2022  ·  contract end Mar 2028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5564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FINANCIAL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3969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Revenue (projected):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$2.85M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vs last year:  </a:t>
            </a:r>
            <a:r>
              <a:rPr sz="1150" b="1" i="0">
                <a:solidFill>
                  <a:srgbClr val="2E7D32"/>
                </a:solidFill>
                <a:latin typeface="Calibri"/>
              </a:rPr>
              <a:t>$2.48M  (+15.1%)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Gross margin: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32.0%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vs last year:  </a:t>
            </a:r>
            <a:r>
              <a:rPr sz="1150" b="1" i="0">
                <a:solidFill>
                  <a:srgbClr val="2E7D32"/>
                </a:solidFill>
                <a:latin typeface="Calibri"/>
              </a:rPr>
              <a:t>29.0%  (+3.0 pts)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55448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7035" y="175564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RESOURCING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7035" y="213969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Headcount: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48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Non-billable resources: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3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Utilization: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88.0%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Active projects: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1596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DELIVERY &amp;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700016"/>
            <a:ext cx="498485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Open risks: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47488"/>
            <a:ext cx="498485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5A6472"/>
                </a:solidFill>
                <a:latin typeface="Calibri"/>
              </a:rPr>
              <a:t>Delivery status: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26694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596128"/>
            <a:ext cx="49848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8C8C8C"/>
                </a:solidFill>
                <a:latin typeface="Calibri"/>
              </a:rPr>
              <a:t>Client owns delivery under this engagement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411480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31596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RELATIONSHIP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035" y="470001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NPS: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42  (as of Mar 2026)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eNPS (account team):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38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Attrition (account team):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9.0%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900" b="0" i="1">
                <a:solidFill>
                  <a:srgbClr val="8C8C8C"/>
                </a:solidFill>
                <a:latin typeface="Calibri"/>
              </a:rPr>
              <a:t>Meridian Advisory Group  ·  Portfolio Review — August 2026  ·  synthetic demo data</a:t>
            </a:r>
          </a:p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Cambria"/>
              </a:rPr>
              <a:t>Northfield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A6472"/>
                </a:solidFill>
                <a:latin typeface="Calibri"/>
              </a:rPr>
              <a:t>Project-based  ·  client since Jun 2023  ·  contract end Dec 2027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5564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FINANCIAL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3969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Revenue (projected):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$4.95M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vs last year:  </a:t>
            </a:r>
            <a:r>
              <a:rPr sz="1150" b="1" i="0">
                <a:solidFill>
                  <a:srgbClr val="2E7D32"/>
                </a:solidFill>
                <a:latin typeface="Calibri"/>
              </a:rPr>
              <a:t>$4.35M  (+13.7%)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Gross margin: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41.0%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vs last year:  </a:t>
            </a:r>
            <a:r>
              <a:rPr sz="1150" b="1" i="0">
                <a:solidFill>
                  <a:srgbClr val="2E7D32"/>
                </a:solidFill>
                <a:latin typeface="Calibri"/>
              </a:rPr>
              <a:t>38.0%  (+3.0 pts)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55448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7035" y="175564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RESOURCING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7035" y="213969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Headcount: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32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Non-billable resources: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4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Utilization:  </a:t>
            </a:r>
            <a:r>
              <a:rPr sz="1150" b="1" i="0">
                <a:solidFill>
                  <a:srgbClr val="8C8C8C"/>
                </a:solidFill>
                <a:latin typeface="Calibri"/>
              </a:rPr>
              <a:t>N/A — client-managed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Active projects: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1596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DELIVERY &amp;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700016"/>
            <a:ext cx="498485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Open risks: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47488"/>
            <a:ext cx="498485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5A6472"/>
                </a:solidFill>
                <a:latin typeface="Calibri"/>
              </a:rPr>
              <a:t>Delivery status: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26694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On track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411480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7035" y="431596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RELATIONSHIP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035" y="470001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NPS: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55  (as of Jun 2026)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eNPS (account team):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44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Attrition (account team):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4.0%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900" b="0" i="1">
                <a:solidFill>
                  <a:srgbClr val="8C8C8C"/>
                </a:solidFill>
                <a:latin typeface="Calibri"/>
              </a:rPr>
              <a:t>Meridian Advisory Group  ·  Portfolio Review — August 2026  ·  synthetic demo data</a:t>
            </a:r>
          </a:p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Cambria"/>
              </a:rPr>
              <a:t>Harborline Financial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A6472"/>
                </a:solidFill>
                <a:latin typeface="Calibri"/>
              </a:rPr>
              <a:t>Staff augmentation  ·  client since Jan 2021  ·  contract end Jan 2027</a:t>
            </a:r>
            <a:r>
              <a:rPr sz="1250" b="1" i="1">
                <a:solidFill>
                  <a:srgbClr val="B56A0B"/>
                </a:solidFill>
                <a:latin typeface="Calibri"/>
              </a:rPr>
              <a:t> (renewal due within 6 months)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5564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FINANCIAL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3969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Revenue (projected):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$2.04M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vs last year:  </a:t>
            </a:r>
            <a:r>
              <a:rPr sz="1150" b="1" i="0">
                <a:solidFill>
                  <a:srgbClr val="C62828"/>
                </a:solidFill>
                <a:latin typeface="Calibri"/>
              </a:rPr>
              <a:t>$2.20M  (-7.3%)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Gross margin: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27.0%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vs last year:  </a:t>
            </a:r>
            <a:r>
              <a:rPr sz="1150" b="1" i="0">
                <a:solidFill>
                  <a:srgbClr val="C62828"/>
                </a:solidFill>
                <a:latin typeface="Calibri"/>
              </a:rPr>
              <a:t>30.0%  (-3.0 pts)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55448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7035" y="175564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RESOURCING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7035" y="213969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Headcount: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25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Non-billable resources: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2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Utilization: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79.0%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Active projects: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1596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DELIVERY &amp;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700016"/>
            <a:ext cx="498485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Open risks:  </a:t>
            </a:r>
            <a:r>
              <a:rPr sz="1150" b="1" i="0">
                <a:solidFill>
                  <a:srgbClr val="B56A0B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47488"/>
            <a:ext cx="498485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5A6472"/>
                </a:solidFill>
                <a:latin typeface="Calibri"/>
              </a:rPr>
              <a:t>Delivery status: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26694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N/A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596128"/>
            <a:ext cx="4984851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8C8C8C"/>
                </a:solidFill>
                <a:latin typeface="Calibri"/>
              </a:rPr>
              <a:t>Client owns delivery under this engagement model.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411480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31596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RELATIONSHIP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035" y="470001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NPS:  </a:t>
            </a:r>
            <a:r>
              <a:rPr sz="1150" b="1" i="0">
                <a:solidFill>
                  <a:srgbClr val="B56A0B"/>
                </a:solidFill>
                <a:latin typeface="Calibri"/>
              </a:rPr>
              <a:t>21  (as of Sep 2025)</a:t>
            </a:r>
            <a:r>
              <a:rPr sz="1050" b="1" i="1">
                <a:solidFill>
                  <a:srgbClr val="B56A0B"/>
                </a:solidFill>
                <a:latin typeface="Calibri"/>
              </a:rPr>
              <a:t>   ⚠ overdue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eNPS (account team):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30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Attrition (account team):  </a:t>
            </a:r>
            <a:r>
              <a:rPr sz="1150" b="1" i="0">
                <a:solidFill>
                  <a:srgbClr val="B56A0B"/>
                </a:solidFill>
                <a:latin typeface="Calibri"/>
              </a:rPr>
              <a:t>18.0%</a:t>
            </a:r>
            <a:r>
              <a:rPr sz="1050" b="1" i="1">
                <a:solidFill>
                  <a:srgbClr val="B56A0B"/>
                </a:solidFill>
                <a:latin typeface="Calibri"/>
              </a:rPr>
              <a:t>   ⚠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900" b="0" i="1">
                <a:solidFill>
                  <a:srgbClr val="8C8C8C"/>
                </a:solidFill>
                <a:latin typeface="Calibri"/>
              </a:rPr>
              <a:t>Meridian Advisory Group  ·  Portfolio Review — August 2026  ·  synthetic demo data</a:t>
            </a:r>
          </a:p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Cambria"/>
              </a:rPr>
              <a:t>Prairie Manufacturing 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5A6472"/>
                </a:solidFill>
                <a:latin typeface="Calibri"/>
              </a:rPr>
              <a:t>Project-based  ·  client since Feb 2024  ·  contract end Feb 2028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5564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FINANCIAL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3969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Revenue (projected):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$1.28M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vs last year:  </a:t>
            </a:r>
            <a:r>
              <a:rPr sz="1150" b="1" i="0">
                <a:solidFill>
                  <a:srgbClr val="2E7D32"/>
                </a:solidFill>
                <a:latin typeface="Calibri"/>
              </a:rPr>
              <a:t>$940,500  (+36.6%)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Gross margin: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36.0%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vs last year:  </a:t>
            </a:r>
            <a:r>
              <a:rPr sz="1150" b="1" i="0">
                <a:solidFill>
                  <a:srgbClr val="2E7D32"/>
                </a:solidFill>
                <a:latin typeface="Calibri"/>
              </a:rPr>
              <a:t>33.0%  (+3.0 pts)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155448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7035" y="175564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RESOURCING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7035" y="213969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Headcount: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18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Non-billable resources: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2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Utilization:  </a:t>
            </a:r>
            <a:r>
              <a:rPr sz="1150" b="1" i="0">
                <a:solidFill>
                  <a:srgbClr val="8C8C8C"/>
                </a:solidFill>
                <a:latin typeface="Calibri"/>
              </a:rPr>
              <a:t>N/A — client-managed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Active projects: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1596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DELIVERY &amp;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700016"/>
            <a:ext cx="498485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Open risks:  </a:t>
            </a:r>
            <a:r>
              <a:rPr sz="1150" b="1" i="0">
                <a:solidFill>
                  <a:srgbClr val="B56A0B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047488"/>
            <a:ext cx="4984851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5A6472"/>
                </a:solidFill>
                <a:latin typeface="Calibri"/>
              </a:rPr>
              <a:t>Delivery status: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26694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B56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At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5867" y="4114800"/>
            <a:ext cx="5387187" cy="2240280"/>
          </a:xfrm>
          <a:prstGeom prst="roundRect">
            <a:avLst>
              <a:gd name="adj" fmla="val 4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7035" y="4315968"/>
            <a:ext cx="49848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Cambria"/>
              </a:rPr>
              <a:t>RELATIONSHIP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035" y="4700016"/>
            <a:ext cx="4984851" cy="1453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NPS: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48  (as of May 2026)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eNPS (account team):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41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5A6472"/>
                </a:solidFill>
                <a:latin typeface="Calibri"/>
              </a:rPr>
              <a:t>Attrition (account team):  </a:t>
            </a:r>
            <a:r>
              <a:rPr sz="1150" b="1" i="0">
                <a:solidFill>
                  <a:srgbClr val="1E2761"/>
                </a:solidFill>
                <a:latin typeface="Calibri"/>
              </a:rPr>
              <a:t>6.0%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r>
              <a:rPr sz="900" b="0" i="1">
                <a:solidFill>
                  <a:srgbClr val="8C8C8C"/>
                </a:solidFill>
                <a:latin typeface="Calibri"/>
              </a:rPr>
              <a:t>Meridian Advisory Group  ·  Portfolio Review — August 2026  ·  synthetic demo data</a:t>
            </a:r>
          </a:p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